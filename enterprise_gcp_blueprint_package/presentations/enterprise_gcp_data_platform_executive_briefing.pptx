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73E8"/>
                </a:solidFill>
              </a:rPr>
              <a:t>Enterprise Google Cloud Data Platform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5F6368"/>
                </a:solidFill>
              </a:rPr>
              <a:t>Executive briefing deck - implementation starter</a:t>
            </a:r>
          </a:p>
        </p:txBody>
      </p:sp>
      <p:pic>
        <p:nvPicPr>
          <p:cNvPr id="4" name="Picture 3" descr="enterprise_concep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0515600" cy="19401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73E8"/>
                </a:solidFill>
              </a:rPr>
              <a:t>Why this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206240" cy="5029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Modernize fragmented legacy estate</a:t>
            </a:r>
          </a:p>
          <a:p>
            <a:pPr>
              <a:spcAft>
                <a:spcPts val="600"/>
              </a:spcAft>
              <a:defRPr sz="1600"/>
            </a:pPr>
            <a:r>
              <a:t>Establish governed data products</a:t>
            </a:r>
          </a:p>
          <a:p>
            <a:pPr>
              <a:spcAft>
                <a:spcPts val="600"/>
              </a:spcAft>
              <a:defRPr sz="1600"/>
            </a:pPr>
            <a:r>
              <a:t>Enable analytics, AI and GenAI at scale</a:t>
            </a:r>
          </a:p>
          <a:p>
            <a:pPr>
              <a:spcAft>
                <a:spcPts val="600"/>
              </a:spcAft>
              <a:defRPr sz="1600"/>
            </a:pPr>
            <a:r>
              <a:t>Reduce risk through Zero Trust and automation</a:t>
            </a:r>
          </a:p>
        </p:txBody>
      </p:sp>
      <p:pic>
        <p:nvPicPr>
          <p:cNvPr id="4" name="Picture 3" descr="enterprise_concep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80160"/>
            <a:ext cx="6858000" cy="12653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73E8"/>
                </a:solidFill>
              </a:rPr>
              <a:t>Landing zone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206240" cy="5029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Organization, folders and projects</a:t>
            </a:r>
          </a:p>
          <a:p>
            <a:pPr>
              <a:spcAft>
                <a:spcPts val="600"/>
              </a:spcAft>
              <a:defRPr sz="1600"/>
            </a:pPr>
            <a:r>
              <a:t>Shared VPC and private connectivity</a:t>
            </a:r>
          </a:p>
          <a:p>
            <a:pPr>
              <a:spcAft>
                <a:spcPts val="600"/>
              </a:spcAft>
              <a:defRPr sz="1600"/>
            </a:pPr>
            <a:r>
              <a:t>IAM, KMS, VPC SC and SCC</a:t>
            </a:r>
          </a:p>
          <a:p>
            <a:pPr>
              <a:spcAft>
                <a:spcPts val="600"/>
              </a:spcAft>
              <a:defRPr sz="1600"/>
            </a:pPr>
            <a:r>
              <a:t>Central logging and monitoring</a:t>
            </a:r>
          </a:p>
        </p:txBody>
      </p:sp>
      <p:pic>
        <p:nvPicPr>
          <p:cNvPr id="4" name="Picture 3" descr="landing_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80160"/>
            <a:ext cx="6858000" cy="33173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73E8"/>
                </a:solidFill>
              </a:rPr>
              <a:t>Enterprise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206240" cy="5029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Landing, raw, silver, gold and semantic layers</a:t>
            </a:r>
          </a:p>
          <a:p>
            <a:pPr>
              <a:spcAft>
                <a:spcPts val="600"/>
              </a:spcAft>
              <a:defRPr sz="1600"/>
            </a:pPr>
            <a:r>
              <a:t>Batch, CDC, streaming and API ingestion</a:t>
            </a:r>
          </a:p>
          <a:p>
            <a:pPr>
              <a:spcAft>
                <a:spcPts val="600"/>
              </a:spcAft>
              <a:defRPr sz="1600"/>
            </a:pPr>
            <a:r>
              <a:t>Knowledge Catalog governance</a:t>
            </a:r>
          </a:p>
          <a:p>
            <a:pPr>
              <a:spcAft>
                <a:spcPts val="600"/>
              </a:spcAft>
              <a:defRPr sz="1600"/>
            </a:pPr>
            <a:r>
              <a:t>BigQuery and BigLake serving model</a:t>
            </a:r>
          </a:p>
        </p:txBody>
      </p:sp>
      <p:pic>
        <p:nvPicPr>
          <p:cNvPr id="4" name="Picture 3" descr="data_plat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80160"/>
            <a:ext cx="6858000" cy="14742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73E8"/>
                </a:solidFill>
              </a:rPr>
              <a:t>Data engineering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206240" cy="5029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Reusable pipeline templates</a:t>
            </a:r>
          </a:p>
          <a:p>
            <a:pPr>
              <a:spcAft>
                <a:spcPts val="600"/>
              </a:spcAft>
              <a:defRPr sz="1600"/>
            </a:pPr>
            <a:r>
              <a:t>Dataflow, Beam, Dataproc and Dataform</a:t>
            </a:r>
          </a:p>
          <a:p>
            <a:pPr>
              <a:spcAft>
                <a:spcPts val="600"/>
              </a:spcAft>
              <a:defRPr sz="1600"/>
            </a:pPr>
            <a:r>
              <a:t>Error handling, DLQ and reconciliation</a:t>
            </a:r>
          </a:p>
          <a:p>
            <a:pPr>
              <a:spcAft>
                <a:spcPts val="600"/>
              </a:spcAft>
              <a:defRPr sz="1600"/>
            </a:pPr>
            <a:r>
              <a:t>Observable SLO-driven operations</a:t>
            </a:r>
          </a:p>
        </p:txBody>
      </p:sp>
      <p:pic>
        <p:nvPicPr>
          <p:cNvPr id="4" name="Picture 3" descr="pipeline_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80160"/>
            <a:ext cx="6858000" cy="24083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73E8"/>
                </a:solidFill>
              </a:rPr>
              <a:t>Data mesh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206240" cy="5029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Central self-service platform</a:t>
            </a:r>
          </a:p>
          <a:p>
            <a:pPr>
              <a:spcAft>
                <a:spcPts val="600"/>
              </a:spcAft>
              <a:defRPr sz="1600"/>
            </a:pPr>
            <a:r>
              <a:t>Federated domain ownership</a:t>
            </a:r>
          </a:p>
          <a:p>
            <a:pPr>
              <a:spcAft>
                <a:spcPts val="600"/>
              </a:spcAft>
              <a:defRPr sz="1600"/>
            </a:pPr>
            <a:r>
              <a:t>Certified data products</a:t>
            </a:r>
          </a:p>
          <a:p>
            <a:pPr>
              <a:spcAft>
                <a:spcPts val="600"/>
              </a:spcAft>
              <a:defRPr sz="1600"/>
            </a:pPr>
            <a:r>
              <a:t>Marketplace and governed sharing</a:t>
            </a:r>
          </a:p>
        </p:txBody>
      </p:sp>
      <p:pic>
        <p:nvPicPr>
          <p:cNvPr id="4" name="Picture 3" descr="data_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80160"/>
            <a:ext cx="6858000" cy="2881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73E8"/>
                </a:solidFill>
              </a:rPr>
              <a:t>AI-ready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206240" cy="5029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Vertex AI, Gemini and RAG</a:t>
            </a:r>
          </a:p>
          <a:p>
            <a:pPr>
              <a:spcAft>
                <a:spcPts val="600"/>
              </a:spcAft>
              <a:defRPr sz="1600"/>
            </a:pPr>
            <a:r>
              <a:t>Vector Search and grounded responses</a:t>
            </a:r>
          </a:p>
          <a:p>
            <a:pPr>
              <a:spcAft>
                <a:spcPts val="600"/>
              </a:spcAft>
              <a:defRPr sz="1600"/>
            </a:pPr>
            <a:r>
              <a:t>Prompt/model governance</a:t>
            </a:r>
          </a:p>
          <a:p>
            <a:pPr>
              <a:spcAft>
                <a:spcPts val="600"/>
              </a:spcAft>
              <a:defRPr sz="1600"/>
            </a:pPr>
            <a:r>
              <a:t>Sensitive-data and tool-use controls</a:t>
            </a:r>
          </a:p>
        </p:txBody>
      </p:sp>
      <p:pic>
        <p:nvPicPr>
          <p:cNvPr id="4" name="Picture 3" descr="ai_plat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80160"/>
            <a:ext cx="6858000" cy="14673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73E8"/>
                </a:solidFill>
              </a:rPr>
              <a:t>Security and Zero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206240" cy="5029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Identity, network, data and workload perimeters</a:t>
            </a:r>
          </a:p>
          <a:p>
            <a:pPr>
              <a:spcAft>
                <a:spcPts val="600"/>
              </a:spcAft>
              <a:defRPr sz="1600"/>
            </a:pPr>
            <a:r>
              <a:t>CMEK for restricted workloads</a:t>
            </a:r>
          </a:p>
          <a:p>
            <a:pPr>
              <a:spcAft>
                <a:spcPts val="600"/>
              </a:spcAft>
              <a:defRPr sz="1600"/>
            </a:pPr>
            <a:r>
              <a:t>Sensitive Data Protection and masking</a:t>
            </a:r>
          </a:p>
          <a:p>
            <a:pPr>
              <a:spcAft>
                <a:spcPts val="600"/>
              </a:spcAft>
              <a:defRPr sz="1600"/>
            </a:pPr>
            <a:r>
              <a:t>Audit logging and SCC integration</a:t>
            </a:r>
          </a:p>
        </p:txBody>
      </p:sp>
      <p:pic>
        <p:nvPicPr>
          <p:cNvPr id="4" name="Picture 3" descr="security_zero_tr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80160"/>
            <a:ext cx="6858000" cy="26769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73E8"/>
                </a:solidFill>
              </a:rPr>
              <a:t>DevSecOps and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206240" cy="5029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Terraform golden modules</a:t>
            </a:r>
          </a:p>
          <a:p>
            <a:pPr>
              <a:spcAft>
                <a:spcPts val="600"/>
              </a:spcAft>
              <a:defRPr sz="1600"/>
            </a:pPr>
            <a:r>
              <a:t>GitOps and policy-as-code</a:t>
            </a:r>
          </a:p>
          <a:p>
            <a:pPr>
              <a:spcAft>
                <a:spcPts val="600"/>
              </a:spcAft>
              <a:defRPr sz="1600"/>
            </a:pPr>
            <a:r>
              <a:t>Promotion gates and approvals</a:t>
            </a:r>
          </a:p>
          <a:p>
            <a:pPr>
              <a:spcAft>
                <a:spcPts val="600"/>
              </a:spcAft>
              <a:defRPr sz="1600"/>
            </a:pPr>
            <a:r>
              <a:t>Immutable artifacts and rollback</a:t>
            </a:r>
          </a:p>
        </p:txBody>
      </p:sp>
      <p:pic>
        <p:nvPicPr>
          <p:cNvPr id="4" name="Picture 3" descr="devsec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80160"/>
            <a:ext cx="6858000" cy="4251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73E8"/>
                </a:solidFill>
              </a:rPr>
              <a:t>FinOps and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206240" cy="5029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Cost allocation by domain/product</a:t>
            </a:r>
          </a:p>
          <a:p>
            <a:pPr>
              <a:spcAft>
                <a:spcPts val="600"/>
              </a:spcAft>
              <a:defRPr sz="1600"/>
            </a:pPr>
            <a:r>
              <a:t>Budgets, reservations and optimization</a:t>
            </a:r>
          </a:p>
          <a:p>
            <a:pPr>
              <a:spcAft>
                <a:spcPts val="600"/>
              </a:spcAft>
              <a:defRPr sz="1600"/>
            </a:pPr>
            <a:r>
              <a:t>SLIs, SLOs, runbooks and alerts</a:t>
            </a:r>
          </a:p>
          <a:p>
            <a:pPr>
              <a:spcAft>
                <a:spcPts val="600"/>
              </a:spcAft>
              <a:defRPr sz="1600"/>
            </a:pPr>
            <a:r>
              <a:t>DR and production readiness</a:t>
            </a:r>
          </a:p>
        </p:txBody>
      </p:sp>
      <p:pic>
        <p:nvPicPr>
          <p:cNvPr id="4" name="Picture 3" descr="fin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80160"/>
            <a:ext cx="6858000" cy="21784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73E8"/>
                </a:solidFill>
              </a:rPr>
              <a:t>Recommended next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5120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Confirm executive sponsor and platform product owner</a:t>
            </a:r>
          </a:p>
          <a:p>
            <a:pPr>
              <a:spcAft>
                <a:spcPts val="600"/>
              </a:spcAft>
              <a:defRPr sz="1600"/>
            </a:pPr>
            <a:r>
              <a:t>Run architecture foundation workshop</a:t>
            </a:r>
          </a:p>
          <a:p>
            <a:pPr>
              <a:spcAft>
                <a:spcPts val="600"/>
              </a:spcAft>
              <a:defRPr sz="1600"/>
            </a:pPr>
            <a:r>
              <a:t>Approve landing-zone MVP scope</a:t>
            </a:r>
          </a:p>
          <a:p>
            <a:pPr>
              <a:spcAft>
                <a:spcPts val="600"/>
              </a:spcAft>
              <a:defRPr sz="1600"/>
            </a:pPr>
            <a:r>
              <a:t>Select first production domain</a:t>
            </a:r>
          </a:p>
          <a:p>
            <a:pPr>
              <a:spcAft>
                <a:spcPts val="600"/>
              </a:spcAft>
              <a:defRPr sz="1600"/>
            </a:pPr>
            <a:r>
              <a:t>Build reference pipelines and Terraform modules</a:t>
            </a:r>
          </a:p>
          <a:p>
            <a:pPr>
              <a:spcAft>
                <a:spcPts val="600"/>
              </a:spcAft>
              <a:defRPr sz="1600"/>
            </a:pPr>
            <a:r>
              <a:t>Schedule security, governance and FinOps reviews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